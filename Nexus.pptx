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aleway" charset="1" panose="00000000000000000000"/>
      <p:regular r:id="rId19"/>
    </p:embeddedFont>
    <p:embeddedFont>
      <p:font typeface="Inter" charset="1" panose="020B0502030000000004"/>
      <p:regular r:id="rId20"/>
    </p:embeddedFont>
    <p:embeddedFont>
      <p:font typeface="Space Mono" charset="1" panose="02000509040000020004"/>
      <p:regular r:id="rId21"/>
    </p:embeddedFont>
    <p:embeddedFont>
      <p:font typeface="TT Chocolates Italics" charset="1" panose="02000503020000090003"/>
      <p:regular r:id="rId22"/>
    </p:embeddedFont>
    <p:embeddedFont>
      <p:font typeface="Barlow Medium" charset="1" panose="00000600000000000000"/>
      <p:regular r:id="rId23"/>
    </p:embeddedFont>
    <p:embeddedFont>
      <p:font typeface="Arimo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524" y="-8123981"/>
            <a:ext cx="18465048" cy="12019067"/>
          </a:xfrm>
          <a:custGeom>
            <a:avLst/>
            <a:gdLst/>
            <a:ahLst/>
            <a:cxnLst/>
            <a:rect r="r" b="b" t="t" l="l"/>
            <a:pathLst>
              <a:path h="12019067" w="18465048">
                <a:moveTo>
                  <a:pt x="0" y="0"/>
                </a:moveTo>
                <a:lnTo>
                  <a:pt x="18465048" y="0"/>
                </a:lnTo>
                <a:lnTo>
                  <a:pt x="18465048" y="12019068"/>
                </a:lnTo>
                <a:lnTo>
                  <a:pt x="0" y="12019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700" y="8794531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6377379"/>
            <a:ext cx="16230600" cy="178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50"/>
              </a:lnSpc>
            </a:pPr>
            <a:r>
              <a:rPr lang="en-US" sz="12500" spc="-37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Nexus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07779"/>
            <a:ext cx="16230600" cy="523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Mohit Lilhare  •  Chaitanya Petkar  •  Parth Godbole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764473" y="1686719"/>
            <a:ext cx="10438441" cy="6794476"/>
          </a:xfrm>
          <a:custGeom>
            <a:avLst/>
            <a:gdLst/>
            <a:ahLst/>
            <a:cxnLst/>
            <a:rect r="r" b="b" t="t" l="l"/>
            <a:pathLst>
              <a:path h="6794476" w="10438441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2662468" y="1536906"/>
            <a:ext cx="4642452" cy="6925027"/>
            <a:chOff x="0" y="0"/>
            <a:chExt cx="660400" cy="9851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985102"/>
            </a:xfrm>
            <a:custGeom>
              <a:avLst/>
              <a:gdLst/>
              <a:ahLst/>
              <a:cxnLst/>
              <a:rect r="r" b="b" t="t" l="l"/>
              <a:pathLst>
                <a:path h="985102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329"/>
                  </a:cubicBezTo>
                  <a:lnTo>
                    <a:pt x="660400" y="985102"/>
                  </a:lnTo>
                  <a:lnTo>
                    <a:pt x="0" y="985102"/>
                  </a:lnTo>
                  <a:lnTo>
                    <a:pt x="0" y="33281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4"/>
              <a:stretch>
                <a:fillRect l="0" t="-216" r="0" b="-216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897260"/>
            <a:ext cx="9959635" cy="86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18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4516" y="2221237"/>
            <a:ext cx="9974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72405" y="4151695"/>
            <a:ext cx="196069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54516" y="6012054"/>
            <a:ext cx="9974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415" y="2221237"/>
            <a:ext cx="9974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415" y="3196211"/>
            <a:ext cx="433373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54516" y="3196211"/>
            <a:ext cx="51338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Findings and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415" y="4151695"/>
            <a:ext cx="186319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415" y="5066095"/>
            <a:ext cx="433373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72405" y="5066095"/>
            <a:ext cx="511592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415" y="6012054"/>
            <a:ext cx="9974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415" y="6926454"/>
            <a:ext cx="4333737" cy="46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54516" y="6926454"/>
            <a:ext cx="51338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415" y="7848600"/>
            <a:ext cx="9974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415" y="8763000"/>
            <a:ext cx="4333737" cy="46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Tools &amp; Methodology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061945" cy="10287000"/>
            <a:chOff x="0" y="0"/>
            <a:chExt cx="15965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65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96562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9656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1" y="19"/>
            <a:ext cx="3030967" cy="5143481"/>
            <a:chOff x="0" y="0"/>
            <a:chExt cx="3668563" cy="622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68563" cy="6225467"/>
            </a:xfrm>
            <a:custGeom>
              <a:avLst/>
              <a:gdLst/>
              <a:ahLst/>
              <a:cxnLst/>
              <a:rect r="r" b="b" t="t" l="l"/>
              <a:pathLst>
                <a:path h="6225467" w="3668563">
                  <a:moveTo>
                    <a:pt x="3668563" y="0"/>
                  </a:moveTo>
                  <a:lnTo>
                    <a:pt x="3668563" y="6225467"/>
                  </a:lnTo>
                  <a:cubicBezTo>
                    <a:pt x="1642474" y="6225467"/>
                    <a:pt x="0" y="4831847"/>
                    <a:pt x="0" y="3112734"/>
                  </a:cubicBezTo>
                  <a:cubicBezTo>
                    <a:pt x="0" y="1393620"/>
                    <a:pt x="1642474" y="0"/>
                    <a:pt x="36685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030978" y="5143519"/>
            <a:ext cx="3030967" cy="5143481"/>
            <a:chOff x="0" y="0"/>
            <a:chExt cx="3668563" cy="6225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68563" cy="6225467"/>
            </a:xfrm>
            <a:custGeom>
              <a:avLst/>
              <a:gdLst/>
              <a:ahLst/>
              <a:cxnLst/>
              <a:rect r="r" b="b" t="t" l="l"/>
              <a:pathLst>
                <a:path h="6225467" w="3668563">
                  <a:moveTo>
                    <a:pt x="3668563" y="0"/>
                  </a:moveTo>
                  <a:lnTo>
                    <a:pt x="3668563" y="6225467"/>
                  </a:lnTo>
                  <a:cubicBezTo>
                    <a:pt x="1642474" y="6225467"/>
                    <a:pt x="0" y="4831847"/>
                    <a:pt x="0" y="3112734"/>
                  </a:cubicBezTo>
                  <a:cubicBezTo>
                    <a:pt x="0" y="1393620"/>
                    <a:pt x="1642474" y="0"/>
                    <a:pt x="36685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8106628" y="3562488"/>
            <a:ext cx="9152672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06628" y="5924444"/>
            <a:ext cx="7212896" cy="523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clear ppt on Minor Project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" y="5143500"/>
            <a:ext cx="3030967" cy="5143481"/>
            <a:chOff x="0" y="0"/>
            <a:chExt cx="3668563" cy="6225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68563" cy="6225467"/>
            </a:xfrm>
            <a:custGeom>
              <a:avLst/>
              <a:gdLst/>
              <a:ahLst/>
              <a:cxnLst/>
              <a:rect r="r" b="b" t="t" l="l"/>
              <a:pathLst>
                <a:path h="6225467" w="3668563">
                  <a:moveTo>
                    <a:pt x="3668563" y="0"/>
                  </a:moveTo>
                  <a:lnTo>
                    <a:pt x="3668563" y="6225467"/>
                  </a:lnTo>
                  <a:cubicBezTo>
                    <a:pt x="1642474" y="6225467"/>
                    <a:pt x="0" y="4831847"/>
                    <a:pt x="0" y="3112734"/>
                  </a:cubicBezTo>
                  <a:cubicBezTo>
                    <a:pt x="0" y="1393620"/>
                    <a:pt x="1642474" y="0"/>
                    <a:pt x="36685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-10800000">
            <a:off x="3030978" y="38"/>
            <a:ext cx="3030967" cy="5143481"/>
            <a:chOff x="0" y="0"/>
            <a:chExt cx="3668563" cy="62254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8563" cy="6225467"/>
            </a:xfrm>
            <a:custGeom>
              <a:avLst/>
              <a:gdLst/>
              <a:ahLst/>
              <a:cxnLst/>
              <a:rect r="r" b="b" t="t" l="l"/>
              <a:pathLst>
                <a:path h="6225467" w="3668563">
                  <a:moveTo>
                    <a:pt x="3668563" y="0"/>
                  </a:moveTo>
                  <a:lnTo>
                    <a:pt x="3668563" y="6225467"/>
                  </a:lnTo>
                  <a:cubicBezTo>
                    <a:pt x="1642474" y="6225467"/>
                    <a:pt x="0" y="4831847"/>
                    <a:pt x="0" y="3112734"/>
                  </a:cubicBezTo>
                  <a:cubicBezTo>
                    <a:pt x="0" y="1393620"/>
                    <a:pt x="1642474" y="0"/>
                    <a:pt x="36685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1705" y="-140888"/>
            <a:ext cx="6787607" cy="10427888"/>
          </a:xfrm>
          <a:custGeom>
            <a:avLst/>
            <a:gdLst/>
            <a:ahLst/>
            <a:cxnLst/>
            <a:rect r="r" b="b" t="t" l="l"/>
            <a:pathLst>
              <a:path h="10427888" w="6787607">
                <a:moveTo>
                  <a:pt x="0" y="0"/>
                </a:moveTo>
                <a:lnTo>
                  <a:pt x="6787607" y="0"/>
                </a:lnTo>
                <a:lnTo>
                  <a:pt x="6787607" y="10427888"/>
                </a:lnTo>
                <a:lnTo>
                  <a:pt x="0" y="10427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121587" y="2466975"/>
            <a:ext cx="9137713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21587" y="5740567"/>
            <a:ext cx="9137713" cy="159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free Chrome extension that lets you highlight any text on a webpage and instantly fact-check it using Google Search and Gemini.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521187" y="2476500"/>
            <a:ext cx="8217088" cy="6021517"/>
          </a:xfrm>
          <a:custGeom>
            <a:avLst/>
            <a:gdLst/>
            <a:ahLst/>
            <a:cxnLst/>
            <a:rect r="r" b="b" t="t" l="l"/>
            <a:pathLst>
              <a:path h="6021517" w="8217088">
                <a:moveTo>
                  <a:pt x="0" y="0"/>
                </a:moveTo>
                <a:lnTo>
                  <a:pt x="8217089" y="0"/>
                </a:lnTo>
                <a:lnTo>
                  <a:pt x="8217089" y="6021517"/>
                </a:lnTo>
                <a:lnTo>
                  <a:pt x="0" y="6021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473" r="-12825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690431" y="-5257488"/>
            <a:ext cx="13296576" cy="20370799"/>
          </a:xfrm>
          <a:custGeom>
            <a:avLst/>
            <a:gdLst/>
            <a:ahLst/>
            <a:cxnLst/>
            <a:rect r="r" b="b" t="t" l="l"/>
            <a:pathLst>
              <a:path h="20370799" w="13296576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276350"/>
            <a:ext cx="16230600" cy="36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2"/>
              </a:lnSpc>
            </a:pPr>
            <a:r>
              <a:rPr lang="en-US" sz="1401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Problem</a:t>
            </a:r>
          </a:p>
          <a:p>
            <a:pPr algn="l" marL="0" indent="0" lvl="0">
              <a:lnSpc>
                <a:spcPts val="14012"/>
              </a:lnSpc>
            </a:pPr>
            <a:r>
              <a:rPr lang="en-US" sz="1401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134171"/>
            <a:ext cx="10617840" cy="212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nternet users need real-time tools to verify claims on websites and social media, but manual fact-checking doesn't scale and most AI systems lack transparency or rely on outdated training data.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31822"/>
            <a:ext cx="8006275" cy="91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</a:pPr>
            <a:r>
              <a:rPr lang="en-US" sz="297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global internet users encounter misleading content on social platforms monthly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40183" y="6031822"/>
            <a:ext cx="7719117" cy="91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</a:pPr>
            <a:r>
              <a:rPr lang="en-US" sz="297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AI-generated news articles are published every day.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394727" y="3908368"/>
            <a:ext cx="5274222" cy="1750493"/>
            <a:chOff x="0" y="0"/>
            <a:chExt cx="1389095" cy="461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9095" cy="461035"/>
            </a:xfrm>
            <a:custGeom>
              <a:avLst/>
              <a:gdLst/>
              <a:ahLst/>
              <a:cxnLst/>
              <a:rect r="r" b="b" t="t" l="l"/>
              <a:pathLst>
                <a:path h="461035" w="1389095">
                  <a:moveTo>
                    <a:pt x="146788" y="0"/>
                  </a:moveTo>
                  <a:lnTo>
                    <a:pt x="1242308" y="0"/>
                  </a:lnTo>
                  <a:cubicBezTo>
                    <a:pt x="1323376" y="0"/>
                    <a:pt x="1389095" y="65719"/>
                    <a:pt x="1389095" y="146788"/>
                  </a:cubicBezTo>
                  <a:lnTo>
                    <a:pt x="1389095" y="314247"/>
                  </a:lnTo>
                  <a:cubicBezTo>
                    <a:pt x="1389095" y="395316"/>
                    <a:pt x="1323376" y="461035"/>
                    <a:pt x="1242308" y="461035"/>
                  </a:cubicBezTo>
                  <a:lnTo>
                    <a:pt x="146788" y="461035"/>
                  </a:lnTo>
                  <a:cubicBezTo>
                    <a:pt x="65719" y="461035"/>
                    <a:pt x="0" y="395316"/>
                    <a:pt x="0" y="314247"/>
                  </a:cubicBezTo>
                  <a:lnTo>
                    <a:pt x="0" y="146788"/>
                  </a:lnTo>
                  <a:cubicBezTo>
                    <a:pt x="0" y="65719"/>
                    <a:pt x="65719" y="0"/>
                    <a:pt x="146788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1389095" cy="584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68%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62631" y="3908368"/>
            <a:ext cx="5274222" cy="1750493"/>
            <a:chOff x="0" y="0"/>
            <a:chExt cx="1389095" cy="4610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9095" cy="461035"/>
            </a:xfrm>
            <a:custGeom>
              <a:avLst/>
              <a:gdLst/>
              <a:ahLst/>
              <a:cxnLst/>
              <a:rect r="r" b="b" t="t" l="l"/>
              <a:pathLst>
                <a:path h="461035" w="1389095">
                  <a:moveTo>
                    <a:pt x="146788" y="0"/>
                  </a:moveTo>
                  <a:lnTo>
                    <a:pt x="1242308" y="0"/>
                  </a:lnTo>
                  <a:cubicBezTo>
                    <a:pt x="1323376" y="0"/>
                    <a:pt x="1389095" y="65719"/>
                    <a:pt x="1389095" y="146788"/>
                  </a:cubicBezTo>
                  <a:lnTo>
                    <a:pt x="1389095" y="314247"/>
                  </a:lnTo>
                  <a:cubicBezTo>
                    <a:pt x="1389095" y="395316"/>
                    <a:pt x="1323376" y="461035"/>
                    <a:pt x="1242308" y="461035"/>
                  </a:cubicBezTo>
                  <a:lnTo>
                    <a:pt x="146788" y="461035"/>
                  </a:lnTo>
                  <a:cubicBezTo>
                    <a:pt x="65719" y="461035"/>
                    <a:pt x="0" y="395316"/>
                    <a:pt x="0" y="314247"/>
                  </a:cubicBezTo>
                  <a:lnTo>
                    <a:pt x="0" y="146788"/>
                  </a:lnTo>
                  <a:cubicBezTo>
                    <a:pt x="0" y="65719"/>
                    <a:pt x="65719" y="0"/>
                    <a:pt x="146788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389095" cy="584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84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60,000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019175"/>
            <a:ext cx="67761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 it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10157" y="1038225"/>
            <a:ext cx="9567470" cy="146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solution</a:t>
            </a: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requires immediate, search-grounded, transparent fact-checking integrated directly into the user's browsing experience.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09412" y="8172221"/>
            <a:ext cx="18506824" cy="12046260"/>
          </a:xfrm>
          <a:custGeom>
            <a:avLst/>
            <a:gdLst/>
            <a:ahLst/>
            <a:cxnLst/>
            <a:rect r="r" b="b" t="t" l="l"/>
            <a:pathLst>
              <a:path h="12046260" w="18506824">
                <a:moveTo>
                  <a:pt x="0" y="0"/>
                </a:moveTo>
                <a:lnTo>
                  <a:pt x="18506824" y="0"/>
                </a:lnTo>
                <a:lnTo>
                  <a:pt x="18506824" y="12046260"/>
                </a:lnTo>
                <a:lnTo>
                  <a:pt x="0" y="12046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370859"/>
            <a:ext cx="4393625" cy="3354888"/>
            <a:chOff x="0" y="0"/>
            <a:chExt cx="5858166" cy="447318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9456" r="0" b="19456"/>
            <a:stretch>
              <a:fillRect/>
            </a:stretch>
          </p:blipFill>
          <p:spPr>
            <a:xfrm flipH="false" flipV="false">
              <a:off x="0" y="0"/>
              <a:ext cx="5858166" cy="4473184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6947188" y="3370859"/>
            <a:ext cx="4393625" cy="3354888"/>
            <a:chOff x="0" y="0"/>
            <a:chExt cx="5858166" cy="447318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6373" t="0" r="6373" b="0"/>
            <a:stretch>
              <a:fillRect/>
            </a:stretch>
          </p:blipFill>
          <p:spPr>
            <a:xfrm flipH="false" flipV="false">
              <a:off x="0" y="0"/>
              <a:ext cx="5858166" cy="447318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12865675" y="3370859"/>
            <a:ext cx="4393625" cy="3354888"/>
            <a:chOff x="0" y="0"/>
            <a:chExt cx="5858166" cy="4473184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8583" t="0" r="8583" b="0"/>
            <a:stretch>
              <a:fillRect/>
            </a:stretch>
          </p:blipFill>
          <p:spPr>
            <a:xfrm flipH="false" flipV="false">
              <a:off x="0" y="0"/>
              <a:ext cx="5858166" cy="4473184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0">
            <a:off x="-88524" y="-9439449"/>
            <a:ext cx="18465048" cy="12019067"/>
          </a:xfrm>
          <a:custGeom>
            <a:avLst/>
            <a:gdLst/>
            <a:ahLst/>
            <a:cxnLst/>
            <a:rect r="r" b="b" t="t" l="l"/>
            <a:pathLst>
              <a:path h="12019067" w="18465048">
                <a:moveTo>
                  <a:pt x="0" y="0"/>
                </a:moveTo>
                <a:lnTo>
                  <a:pt x="18465048" y="0"/>
                </a:lnTo>
                <a:lnTo>
                  <a:pt x="18465048" y="12019067"/>
                </a:lnTo>
                <a:lnTo>
                  <a:pt x="0" y="12019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767471"/>
            <a:ext cx="162306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Goals and 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63816"/>
            <a:ext cx="4393625" cy="98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Real-time claim verification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7188" y="7163816"/>
            <a:ext cx="4393625" cy="98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Open-s</a:t>
            </a:r>
            <a:r>
              <a:rPr lang="en-US" sz="320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ource &amp; accessible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65675" y="7406710"/>
            <a:ext cx="4393625" cy="49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Universal coverage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5270" y="8214538"/>
            <a:ext cx="3960485" cy="166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RAG with Google Search grounding for transparent, cited, evidence-based responses.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11639" y="8424081"/>
            <a:ext cx="4329174" cy="124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Free Chrome extension requiring only Google Gemini API key, no data tracking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82245" y="8214538"/>
            <a:ext cx="3960485" cy="166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Text selection for claims on any webpage, social media, PDFs, and Google Docs.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2496" y="2041708"/>
            <a:ext cx="1176067" cy="11760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32937" y="4163308"/>
            <a:ext cx="6648450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Tools and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91988" y="1789289"/>
            <a:ext cx="6367312" cy="49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 triggers verification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91988" y="2375847"/>
            <a:ext cx="6367312" cy="124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Highlight text on</a:t>
            </a:r>
            <a:r>
              <a:rPr lang="en-US" sz="24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any webpage and select verify via right-click, keyboard shortcut, or toolbar icon.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91988" y="6958471"/>
            <a:ext cx="6367312" cy="49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</a:t>
            </a:r>
            <a:r>
              <a:rPr lang="en-US" sz="3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ts displayed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1988" y="7461795"/>
            <a:ext cx="6367312" cy="124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Popup shows comprehensive</a:t>
            </a:r>
            <a:r>
              <a:rPr lang="en-US" sz="24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fact-check with inline citations, source URLs, and titles for full transparency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91988" y="4523145"/>
            <a:ext cx="6367312" cy="49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retrieves &amp; analyzes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91988" y="5099414"/>
            <a:ext cx="7089876" cy="124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Extension sends</a:t>
            </a:r>
            <a:r>
              <a:rPr lang="en-US" sz="24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claim to Gemini API, which auto-generates search queries, retrieves real-time results from Google Search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42496" y="4689700"/>
            <a:ext cx="1176067" cy="117606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42496" y="6967996"/>
            <a:ext cx="1176067" cy="117606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116132">
            <a:off x="-5549742" y="-9401113"/>
            <a:ext cx="12199733" cy="12199733"/>
          </a:xfrm>
          <a:custGeom>
            <a:avLst/>
            <a:gdLst/>
            <a:ahLst/>
            <a:cxnLst/>
            <a:rect r="r" b="b" t="t" l="l"/>
            <a:pathLst>
              <a:path h="12199733" w="12199733">
                <a:moveTo>
                  <a:pt x="0" y="0"/>
                </a:moveTo>
                <a:lnTo>
                  <a:pt x="12199733" y="0"/>
                </a:lnTo>
                <a:lnTo>
                  <a:pt x="12199733" y="12199733"/>
                </a:lnTo>
                <a:lnTo>
                  <a:pt x="0" y="12199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601436">
            <a:off x="12696149" y="-7140641"/>
            <a:ext cx="15289153" cy="15289153"/>
          </a:xfrm>
          <a:custGeom>
            <a:avLst/>
            <a:gdLst/>
            <a:ahLst/>
            <a:cxnLst/>
            <a:rect r="r" b="b" t="t" l="l"/>
            <a:pathLst>
              <a:path h="15289153" w="15289153">
                <a:moveTo>
                  <a:pt x="0" y="0"/>
                </a:moveTo>
                <a:lnTo>
                  <a:pt x="15289152" y="0"/>
                </a:lnTo>
                <a:lnTo>
                  <a:pt x="15289152" y="15289153"/>
                </a:lnTo>
                <a:lnTo>
                  <a:pt x="0" y="15289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176032">
            <a:off x="-4299841" y="6562980"/>
            <a:ext cx="12269998" cy="12269998"/>
          </a:xfrm>
          <a:custGeom>
            <a:avLst/>
            <a:gdLst/>
            <a:ahLst/>
            <a:cxnLst/>
            <a:rect r="r" b="b" t="t" l="l"/>
            <a:pathLst>
              <a:path h="12269998" w="12269998">
                <a:moveTo>
                  <a:pt x="0" y="0"/>
                </a:moveTo>
                <a:lnTo>
                  <a:pt x="12269998" y="0"/>
                </a:lnTo>
                <a:lnTo>
                  <a:pt x="12269998" y="12269999"/>
                </a:lnTo>
                <a:lnTo>
                  <a:pt x="0" y="12269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259747" y="1405911"/>
            <a:ext cx="1714934" cy="1995559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76BE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63500"/>
              <a:ext cx="698500" cy="60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sz="3599" i="true" spc="161" strike="noStrike" u="none">
                  <a:solidFill>
                    <a:srgbClr val="3F4B52"/>
                  </a:solidFill>
                  <a:latin typeface="TT Chocolates Italics"/>
                  <a:ea typeface="TT Chocolates Italics"/>
                  <a:cs typeface="TT Chocolates Italics"/>
                  <a:sym typeface="TT Chocolates Italics"/>
                </a:rPr>
                <a:t>01.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32768" y="1405911"/>
            <a:ext cx="1714934" cy="1995559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AC4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63500"/>
              <a:ext cx="698500" cy="60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sz="3599" i="true" spc="161">
                  <a:solidFill>
                    <a:srgbClr val="3F4B52"/>
                  </a:solidFill>
                  <a:latin typeface="TT Chocolates Italics"/>
                  <a:ea typeface="TT Chocolates Italics"/>
                  <a:cs typeface="TT Chocolates Italics"/>
                  <a:sym typeface="TT Chocolates Italics"/>
                </a:rPr>
                <a:t>04.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16458" y="4145720"/>
            <a:ext cx="1714934" cy="1995559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BDE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63500"/>
              <a:ext cx="698500" cy="60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sz="3599" i="true" spc="161">
                  <a:solidFill>
                    <a:srgbClr val="3F4B52"/>
                  </a:solidFill>
                  <a:latin typeface="TT Chocolates Italics"/>
                  <a:ea typeface="TT Chocolates Italics"/>
                  <a:cs typeface="TT Chocolates Italics"/>
                  <a:sym typeface="TT Chocolates Italics"/>
                </a:rPr>
                <a:t>02.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85485" y="4145720"/>
            <a:ext cx="1714934" cy="1995559"/>
            <a:chOff x="0" y="0"/>
            <a:chExt cx="6985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B4DB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63500"/>
              <a:ext cx="698500" cy="60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sz="3599" i="true" spc="161">
                  <a:solidFill>
                    <a:srgbClr val="3F4B52"/>
                  </a:solidFill>
                  <a:latin typeface="TT Chocolates Italics"/>
                  <a:ea typeface="TT Chocolates Italics"/>
                  <a:cs typeface="TT Chocolates Italics"/>
                  <a:sym typeface="TT Chocolates Italics"/>
                </a:rPr>
                <a:t>05.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59747" y="6885530"/>
            <a:ext cx="1714934" cy="1995559"/>
            <a:chOff x="0" y="0"/>
            <a:chExt cx="6985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D19D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63500"/>
              <a:ext cx="698500" cy="60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sz="3599" i="true" spc="161">
                  <a:solidFill>
                    <a:srgbClr val="3F4B52"/>
                  </a:solidFill>
                  <a:latin typeface="TT Chocolates Italics"/>
                  <a:ea typeface="TT Chocolates Italics"/>
                  <a:cs typeface="TT Chocolates Italics"/>
                  <a:sym typeface="TT Chocolates Italics"/>
                </a:rPr>
                <a:t>03.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32768" y="6885530"/>
            <a:ext cx="1714934" cy="1995559"/>
            <a:chOff x="0" y="0"/>
            <a:chExt cx="6985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85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63500"/>
              <a:ext cx="698500" cy="60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sz="3599" i="true" spc="161">
                  <a:solidFill>
                    <a:srgbClr val="3F4B52"/>
                  </a:solidFill>
                  <a:latin typeface="TT Chocolates Italics"/>
                  <a:ea typeface="TT Chocolates Italics"/>
                  <a:cs typeface="TT Chocolates Italics"/>
                  <a:sym typeface="TT Chocolates Italics"/>
                </a:rPr>
                <a:t>06.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1329711"/>
            <a:ext cx="4759126" cy="62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 i="true" spc="161">
                <a:solidFill>
                  <a:srgbClr val="3F4B52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H</a:t>
            </a:r>
            <a:r>
              <a:rPr lang="en-US" sz="3599" i="true" spc="161" strike="noStrike" u="none">
                <a:solidFill>
                  <a:srgbClr val="3F4B52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ighlight Text on Page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47522" y="1985421"/>
            <a:ext cx="3140305" cy="106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63696F"/>
                </a:solidFill>
                <a:latin typeface="Barlow Medium"/>
                <a:ea typeface="Barlow Medium"/>
                <a:cs typeface="Barlow Medium"/>
                <a:sym typeface="Barlow Medium"/>
              </a:rPr>
              <a:t>User selects any claim on webpage, PDF, slides, or docs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0124" y="4069520"/>
            <a:ext cx="4285202" cy="62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 i="true" spc="161">
                <a:solidFill>
                  <a:srgbClr val="3F4B52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Tr</a:t>
            </a:r>
            <a:r>
              <a:rPr lang="en-US" sz="3599" i="true" spc="161" strike="noStrike" u="none">
                <a:solidFill>
                  <a:srgbClr val="3F4B52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igger Fact Check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95022" y="4725231"/>
            <a:ext cx="3140305" cy="141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63696F"/>
                </a:solidFill>
                <a:latin typeface="Barlow Medium"/>
                <a:ea typeface="Barlow Medium"/>
                <a:cs typeface="Barlow Medium"/>
                <a:sym typeface="Barlow Medium"/>
              </a:rPr>
              <a:t>Click right-click menu, keyboard shortcut, or toolbar icon to initiate verification.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0" y="6809330"/>
            <a:ext cx="5787826" cy="62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 i="true" spc="161">
                <a:solidFill>
                  <a:srgbClr val="3F4B52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Extract and Prepare Claim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82946" y="7465040"/>
            <a:ext cx="3604880" cy="106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63696F"/>
                </a:solidFill>
                <a:latin typeface="Barlow Medium"/>
                <a:ea typeface="Barlow Medium"/>
                <a:cs typeface="Barlow Medium"/>
                <a:sym typeface="Barlow Medium"/>
              </a:rPr>
              <a:t>Chrome extension captures highlighted text, cleans format, and identifies key terms.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23952" y="737229"/>
            <a:ext cx="5907003" cy="126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 i="true" spc="161">
                <a:solidFill>
                  <a:srgbClr val="3F4B52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Google Gemini API with Search Grounding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31436" y="1985421"/>
            <a:ext cx="3538512" cy="106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63696F"/>
                </a:solidFill>
                <a:latin typeface="Barlow Medium"/>
                <a:ea typeface="Barlow Medium"/>
                <a:cs typeface="Barlow Medium"/>
                <a:sym typeface="Barlow Medium"/>
              </a:rPr>
              <a:t>Send claim to Gemini with google_search tool enabled for real-time verification.</a:t>
            </a:r>
          </a:p>
        </p:txBody>
      </p:sp>
      <p:grpSp>
        <p:nvGrpSpPr>
          <p:cNvPr name="Group 31" id="31"/>
          <p:cNvGrpSpPr/>
          <p:nvPr/>
        </p:nvGrpSpPr>
        <p:grpSpPr>
          <a:xfrm rot="1224447">
            <a:off x="16751450" y="4254129"/>
            <a:ext cx="3534091" cy="353409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EDDC6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63500" y="15875"/>
              <a:ext cx="685800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187202" y="4069520"/>
            <a:ext cx="4509372" cy="126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 i="true" spc="161">
                <a:solidFill>
                  <a:srgbClr val="3F4B52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Fact-Check Results with Citations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87202" y="5321160"/>
            <a:ext cx="3843117" cy="141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63696F"/>
                </a:solidFill>
                <a:latin typeface="Barlow Medium"/>
                <a:ea typeface="Barlow Medium"/>
                <a:cs typeface="Barlow Medium"/>
                <a:sym typeface="Barlow Medium"/>
              </a:rPr>
              <a:t>Gemini synthesizes search results to generate classification, evidence snippets, source links, and justification.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23952" y="7082697"/>
            <a:ext cx="5288981" cy="62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 i="true" spc="161">
                <a:solidFill>
                  <a:srgbClr val="3F4B52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Displ</a:t>
            </a:r>
            <a:r>
              <a:rPr lang="en-US" sz="3599" i="true" spc="161" strike="noStrike" u="none">
                <a:solidFill>
                  <a:srgbClr val="3F4B52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ay Popup in Sidebar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31436" y="7733085"/>
            <a:ext cx="3538512" cy="106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63696F"/>
                </a:solidFill>
                <a:latin typeface="Barlow Medium"/>
                <a:ea typeface="Barlow Medium"/>
                <a:cs typeface="Barlow Medium"/>
                <a:sym typeface="Barlow Medium"/>
              </a:rPr>
              <a:t>Present formatted results with clickable source links and inline citations for user review.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8119670" y="3894317"/>
            <a:ext cx="2048659" cy="2498365"/>
          </a:xfrm>
          <a:custGeom>
            <a:avLst/>
            <a:gdLst/>
            <a:ahLst/>
            <a:cxnLst/>
            <a:rect r="r" b="b" t="t" l="l"/>
            <a:pathLst>
              <a:path h="2498365" w="2048659">
                <a:moveTo>
                  <a:pt x="0" y="0"/>
                </a:moveTo>
                <a:lnTo>
                  <a:pt x="2048660" y="0"/>
                </a:lnTo>
                <a:lnTo>
                  <a:pt x="2048660" y="2498366"/>
                </a:lnTo>
                <a:lnTo>
                  <a:pt x="0" y="24983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1224447">
            <a:off x="-1429529" y="7724941"/>
            <a:ext cx="3959306" cy="395930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4DB5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1224447">
            <a:off x="-323002" y="-2846071"/>
            <a:ext cx="3959306" cy="3959306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5E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26991" y="-2472476"/>
            <a:ext cx="11784563" cy="15231951"/>
            <a:chOff x="0" y="0"/>
            <a:chExt cx="941273" cy="121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1273" cy="1216627"/>
            </a:xfrm>
            <a:custGeom>
              <a:avLst/>
              <a:gdLst/>
              <a:ahLst/>
              <a:cxnLst/>
              <a:rect r="r" b="b" t="t" l="l"/>
              <a:pathLst>
                <a:path h="1216627" w="941273">
                  <a:moveTo>
                    <a:pt x="470636" y="0"/>
                  </a:moveTo>
                  <a:cubicBezTo>
                    <a:pt x="210711" y="0"/>
                    <a:pt x="0" y="272351"/>
                    <a:pt x="0" y="608313"/>
                  </a:cubicBezTo>
                  <a:cubicBezTo>
                    <a:pt x="0" y="944276"/>
                    <a:pt x="210711" y="1216627"/>
                    <a:pt x="470636" y="1216627"/>
                  </a:cubicBezTo>
                  <a:cubicBezTo>
                    <a:pt x="730562" y="1216627"/>
                    <a:pt x="941273" y="944276"/>
                    <a:pt x="941273" y="608313"/>
                  </a:cubicBezTo>
                  <a:cubicBezTo>
                    <a:pt x="941273" y="272351"/>
                    <a:pt x="730562" y="0"/>
                    <a:pt x="4706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88244" y="66434"/>
              <a:ext cx="764784" cy="1036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765545"/>
            <a:ext cx="7052612" cy="283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00"/>
              </a:lnSpc>
              <a:spcBef>
                <a:spcPct val="0"/>
              </a:spcBef>
            </a:pPr>
            <a:r>
              <a:rPr lang="en-US" sz="10000" spc="-30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Findings and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15650" y="4581511"/>
            <a:ext cx="6343650" cy="10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Results of Nexus 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are ...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6042" y="3394123"/>
            <a:ext cx="1176067" cy="11760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55891" y="3421688"/>
            <a:ext cx="1176067" cy="1120938"/>
            <a:chOff x="0" y="0"/>
            <a:chExt cx="812800" cy="774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55967" y="3394123"/>
            <a:ext cx="1176067" cy="11760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812800"/>
                  </a:lnTo>
                  <a:lnTo>
                    <a:pt x="0" y="8128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329746"/>
              <a:ext cx="558800" cy="42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47677" y="4848100"/>
            <a:ext cx="3297034" cy="146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performance RAG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5816" y="6562640"/>
            <a:ext cx="3933563" cy="154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&lt;100KB extension, &lt;5s response time, zero hallucinations through real-time search grounding.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88705" y="1019175"/>
            <a:ext cx="691058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Findings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47602" y="5090994"/>
            <a:ext cx="2992797" cy="98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Universal access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90963" y="6562640"/>
            <a:ext cx="3306074" cy="154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Free, no-setup tool works on all websites for all users (free &amp; paid Gemini tiers).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47526" y="5090994"/>
            <a:ext cx="2992797" cy="98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Production-validated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90888" y="6562640"/>
            <a:ext cx="3306074" cy="193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Community adoption and GitHub contributions prove browser-native fact-checking is viable</a:t>
            </a:r>
          </a:p>
        </p:txBody>
      </p:sp>
      <p:grpSp>
        <p:nvGrpSpPr>
          <p:cNvPr name="Group 18" id="18"/>
          <p:cNvGrpSpPr/>
          <p:nvPr/>
        </p:nvGrpSpPr>
        <p:grpSpPr>
          <a:xfrm rot="5400000">
            <a:off x="8629650" y="628650"/>
            <a:ext cx="1028700" cy="18288000"/>
            <a:chOff x="0" y="0"/>
            <a:chExt cx="68318" cy="1214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318" cy="1214550"/>
            </a:xfrm>
            <a:custGeom>
              <a:avLst/>
              <a:gdLst/>
              <a:ahLst/>
              <a:cxnLst/>
              <a:rect r="r" b="b" t="t" l="l"/>
              <a:pathLst>
                <a:path h="1214550" w="68318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8318" cy="126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74170"/>
            <a:ext cx="18288000" cy="5212830"/>
            <a:chOff x="0" y="0"/>
            <a:chExt cx="24384000" cy="695044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55594" r="0" b="1622"/>
            <a:stretch>
              <a:fillRect/>
            </a:stretch>
          </p:blipFill>
          <p:spPr>
            <a:xfrm flipH="false" flipV="false">
              <a:off x="0" y="0"/>
              <a:ext cx="24384000" cy="695044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822516" y="1019175"/>
            <a:ext cx="7784968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66713" y="962025"/>
            <a:ext cx="9558106" cy="31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Nexus is an RAG application combining Gemini API with real-time search grounding to provide free, private, verifiable fact-checking. As misinformation threatens global information integrity, this accessible tool demonstrates that sophisticated AI can combat disinformation at zero cost.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028700" cy="10287000"/>
            <a:chOff x="0" y="0"/>
            <a:chExt cx="68318" cy="6831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318" cy="683184"/>
            </a:xfrm>
            <a:custGeom>
              <a:avLst/>
              <a:gdLst/>
              <a:ahLst/>
              <a:cxnLst/>
              <a:rect r="r" b="b" t="t" l="l"/>
              <a:pathLst>
                <a:path h="683184" w="68318">
                  <a:moveTo>
                    <a:pt x="0" y="0"/>
                  </a:moveTo>
                  <a:lnTo>
                    <a:pt x="68318" y="0"/>
                  </a:lnTo>
                  <a:lnTo>
                    <a:pt x="68318" y="683184"/>
                  </a:lnTo>
                  <a:lnTo>
                    <a:pt x="0" y="683184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8318" cy="730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352033"/>
            <a:ext cx="18288000" cy="6934967"/>
            <a:chOff x="0" y="0"/>
            <a:chExt cx="4816593" cy="182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826493"/>
            </a:xfrm>
            <a:custGeom>
              <a:avLst/>
              <a:gdLst/>
              <a:ahLst/>
              <a:cxnLst/>
              <a:rect r="r" b="b" t="t" l="l"/>
              <a:pathLst>
                <a:path h="18264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826493"/>
                  </a:lnTo>
                  <a:lnTo>
                    <a:pt x="0" y="18264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874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606636" y="1266149"/>
            <a:ext cx="1652664" cy="165266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3720106" y="1266149"/>
            <a:ext cx="1652664" cy="165266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FBFFE7">
                    <a:alpha val="100000"/>
                  </a:srgbClr>
                </a:gs>
                <a:gs pos="100000">
                  <a:srgbClr val="B7D0D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34163" y="1266149"/>
            <a:ext cx="1652076" cy="1652664"/>
            <a:chOff x="0" y="0"/>
            <a:chExt cx="710947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0947" cy="711200"/>
            </a:xfrm>
            <a:custGeom>
              <a:avLst/>
              <a:gdLst/>
              <a:ahLst/>
              <a:cxnLst/>
              <a:rect r="r" b="b" t="t" l="l"/>
              <a:pathLst>
                <a:path h="711200" w="710947">
                  <a:moveTo>
                    <a:pt x="355474" y="0"/>
                  </a:moveTo>
                  <a:lnTo>
                    <a:pt x="710947" y="711200"/>
                  </a:lnTo>
                  <a:lnTo>
                    <a:pt x="0" y="711200"/>
                  </a:lnTo>
                  <a:lnTo>
                    <a:pt x="355474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B7D0DD">
                    <a:alpha val="100000"/>
                  </a:srgbClr>
                </a:gs>
                <a:gs pos="100000">
                  <a:srgbClr val="FBFFE7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11086" y="282575"/>
              <a:ext cx="488776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266825"/>
            <a:ext cx="8794895" cy="172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12"/>
              </a:lnSpc>
              <a:spcBef>
                <a:spcPct val="0"/>
              </a:spcBef>
            </a:pPr>
            <a:r>
              <a:rPr lang="en-US" sz="1291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Referenecs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7753241"/>
            <a:ext cx="7830512" cy="1501846"/>
            <a:chOff x="0" y="0"/>
            <a:chExt cx="881508" cy="1690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1508" cy="169068"/>
            </a:xfrm>
            <a:custGeom>
              <a:avLst/>
              <a:gdLst/>
              <a:ahLst/>
              <a:cxnLst/>
              <a:rect r="r" b="b" t="t" l="l"/>
              <a:pathLst>
                <a:path h="169068" w="881508">
                  <a:moveTo>
                    <a:pt x="49434" y="0"/>
                  </a:moveTo>
                  <a:lnTo>
                    <a:pt x="832074" y="0"/>
                  </a:lnTo>
                  <a:cubicBezTo>
                    <a:pt x="859376" y="0"/>
                    <a:pt x="881508" y="22132"/>
                    <a:pt x="881508" y="49434"/>
                  </a:cubicBezTo>
                  <a:lnTo>
                    <a:pt x="881508" y="119634"/>
                  </a:lnTo>
                  <a:cubicBezTo>
                    <a:pt x="881508" y="146936"/>
                    <a:pt x="859376" y="169068"/>
                    <a:pt x="832074" y="169068"/>
                  </a:cubicBezTo>
                  <a:lnTo>
                    <a:pt x="49434" y="169068"/>
                  </a:lnTo>
                  <a:cubicBezTo>
                    <a:pt x="22132" y="169068"/>
                    <a:pt x="0" y="146936"/>
                    <a:pt x="0" y="119634"/>
                  </a:cubicBezTo>
                  <a:lnTo>
                    <a:pt x="0" y="49434"/>
                  </a:lnTo>
                  <a:cubicBezTo>
                    <a:pt x="0" y="22132"/>
                    <a:pt x="22132" y="0"/>
                    <a:pt x="494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B7D0DD">
                    <a:alpha val="100000"/>
                  </a:srgbClr>
                </a:gs>
                <a:gs pos="100000">
                  <a:srgbClr val="FBFF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81508" cy="216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28788" y="7756454"/>
            <a:ext cx="7830512" cy="1501846"/>
            <a:chOff x="0" y="0"/>
            <a:chExt cx="881508" cy="1690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1508" cy="169068"/>
            </a:xfrm>
            <a:custGeom>
              <a:avLst/>
              <a:gdLst/>
              <a:ahLst/>
              <a:cxnLst/>
              <a:rect r="r" b="b" t="t" l="l"/>
              <a:pathLst>
                <a:path h="169068" w="881508">
                  <a:moveTo>
                    <a:pt x="49434" y="0"/>
                  </a:moveTo>
                  <a:lnTo>
                    <a:pt x="832074" y="0"/>
                  </a:lnTo>
                  <a:cubicBezTo>
                    <a:pt x="859376" y="0"/>
                    <a:pt x="881508" y="22132"/>
                    <a:pt x="881508" y="49434"/>
                  </a:cubicBezTo>
                  <a:lnTo>
                    <a:pt x="881508" y="119634"/>
                  </a:lnTo>
                  <a:cubicBezTo>
                    <a:pt x="881508" y="146936"/>
                    <a:pt x="859376" y="169068"/>
                    <a:pt x="832074" y="169068"/>
                  </a:cubicBezTo>
                  <a:lnTo>
                    <a:pt x="49434" y="169068"/>
                  </a:lnTo>
                  <a:cubicBezTo>
                    <a:pt x="22132" y="169068"/>
                    <a:pt x="0" y="146936"/>
                    <a:pt x="0" y="119634"/>
                  </a:cubicBezTo>
                  <a:lnTo>
                    <a:pt x="0" y="49434"/>
                  </a:lnTo>
                  <a:cubicBezTo>
                    <a:pt x="0" y="22132"/>
                    <a:pt x="22132" y="0"/>
                    <a:pt x="494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B7D0DD">
                    <a:alpha val="100000"/>
                  </a:srgbClr>
                </a:gs>
                <a:gs pos="100000">
                  <a:srgbClr val="FBFF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81508" cy="216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28788" y="5883519"/>
            <a:ext cx="7830512" cy="1501846"/>
            <a:chOff x="0" y="0"/>
            <a:chExt cx="881508" cy="1690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1508" cy="169068"/>
            </a:xfrm>
            <a:custGeom>
              <a:avLst/>
              <a:gdLst/>
              <a:ahLst/>
              <a:cxnLst/>
              <a:rect r="r" b="b" t="t" l="l"/>
              <a:pathLst>
                <a:path h="169068" w="881508">
                  <a:moveTo>
                    <a:pt x="49434" y="0"/>
                  </a:moveTo>
                  <a:lnTo>
                    <a:pt x="832074" y="0"/>
                  </a:lnTo>
                  <a:cubicBezTo>
                    <a:pt x="859376" y="0"/>
                    <a:pt x="881508" y="22132"/>
                    <a:pt x="881508" y="49434"/>
                  </a:cubicBezTo>
                  <a:lnTo>
                    <a:pt x="881508" y="119634"/>
                  </a:lnTo>
                  <a:cubicBezTo>
                    <a:pt x="881508" y="146936"/>
                    <a:pt x="859376" y="169068"/>
                    <a:pt x="832074" y="169068"/>
                  </a:cubicBezTo>
                  <a:lnTo>
                    <a:pt x="49434" y="169068"/>
                  </a:lnTo>
                  <a:cubicBezTo>
                    <a:pt x="22132" y="169068"/>
                    <a:pt x="0" y="146936"/>
                    <a:pt x="0" y="119634"/>
                  </a:cubicBezTo>
                  <a:lnTo>
                    <a:pt x="0" y="49434"/>
                  </a:lnTo>
                  <a:cubicBezTo>
                    <a:pt x="0" y="22132"/>
                    <a:pt x="22132" y="0"/>
                    <a:pt x="494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DB63">
                    <a:alpha val="100000"/>
                  </a:srgbClr>
                </a:gs>
                <a:gs pos="50000">
                  <a:srgbClr val="B7D0DD">
                    <a:alpha val="100000"/>
                  </a:srgbClr>
                </a:gs>
                <a:gs pos="100000">
                  <a:srgbClr val="FBFF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81508" cy="216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5883519"/>
            <a:ext cx="7830512" cy="1501846"/>
            <a:chOff x="0" y="0"/>
            <a:chExt cx="10440683" cy="200246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440683" cy="2002461"/>
              <a:chOff x="0" y="0"/>
              <a:chExt cx="881508" cy="16906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81508" cy="169068"/>
              </a:xfrm>
              <a:custGeom>
                <a:avLst/>
                <a:gdLst/>
                <a:ahLst/>
                <a:cxnLst/>
                <a:rect r="r" b="b" t="t" l="l"/>
                <a:pathLst>
                  <a:path h="169068" w="881508">
                    <a:moveTo>
                      <a:pt x="49434" y="0"/>
                    </a:moveTo>
                    <a:lnTo>
                      <a:pt x="832074" y="0"/>
                    </a:lnTo>
                    <a:cubicBezTo>
                      <a:pt x="859376" y="0"/>
                      <a:pt x="881508" y="22132"/>
                      <a:pt x="881508" y="49434"/>
                    </a:cubicBezTo>
                    <a:lnTo>
                      <a:pt x="881508" y="119634"/>
                    </a:lnTo>
                    <a:cubicBezTo>
                      <a:pt x="881508" y="146936"/>
                      <a:pt x="859376" y="169068"/>
                      <a:pt x="832074" y="169068"/>
                    </a:cubicBezTo>
                    <a:lnTo>
                      <a:pt x="49434" y="169068"/>
                    </a:lnTo>
                    <a:cubicBezTo>
                      <a:pt x="22132" y="169068"/>
                      <a:pt x="0" y="146936"/>
                      <a:pt x="0" y="119634"/>
                    </a:cubicBezTo>
                    <a:lnTo>
                      <a:pt x="0" y="49434"/>
                    </a:lnTo>
                    <a:cubicBezTo>
                      <a:pt x="0" y="22132"/>
                      <a:pt x="22132" y="0"/>
                      <a:pt x="4943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C6DB63">
                      <a:alpha val="100000"/>
                    </a:srgbClr>
                  </a:gs>
                  <a:gs pos="50000">
                    <a:srgbClr val="B7D0DD">
                      <a:alpha val="100000"/>
                    </a:srgbClr>
                  </a:gs>
                  <a:gs pos="100000">
                    <a:srgbClr val="FBFFE7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881508" cy="2166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601094" y="254682"/>
              <a:ext cx="9238496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Email 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01094" y="888412"/>
              <a:ext cx="9238496" cy="707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u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hello@reallygreatsite.com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67657" y="8008546"/>
            <a:ext cx="6952597" cy="941705"/>
            <a:chOff x="0" y="0"/>
            <a:chExt cx="9270129" cy="1255606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76200"/>
              <a:ext cx="9270129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Social media</a:t>
              </a:r>
              <a:r>
                <a:rPr lang="en-US" sz="2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548005"/>
              <a:ext cx="9270129" cy="707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@reallygreatsite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904639" y="6138824"/>
            <a:ext cx="6878810" cy="941705"/>
            <a:chOff x="0" y="0"/>
            <a:chExt cx="9171747" cy="1255606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76200"/>
              <a:ext cx="9171747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Phone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548005"/>
              <a:ext cx="9171747" cy="707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123-456-7890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904639" y="8011759"/>
            <a:ext cx="6878810" cy="941705"/>
            <a:chOff x="0" y="0"/>
            <a:chExt cx="9171747" cy="1255606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76200"/>
              <a:ext cx="9171747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Address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548005"/>
              <a:ext cx="9171747" cy="707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123 Anywhere St., Any City, ST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28700" y="3762548"/>
            <a:ext cx="7830512" cy="2393412"/>
            <a:chOff x="0" y="0"/>
            <a:chExt cx="10440683" cy="3191216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10440683" cy="3191216"/>
              <a:chOff x="0" y="0"/>
              <a:chExt cx="881508" cy="26943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81508" cy="269435"/>
              </a:xfrm>
              <a:custGeom>
                <a:avLst/>
                <a:gdLst/>
                <a:ahLst/>
                <a:cxnLst/>
                <a:rect r="r" b="b" t="t" l="l"/>
                <a:pathLst>
                  <a:path h="269435" w="881508">
                    <a:moveTo>
                      <a:pt x="49434" y="0"/>
                    </a:moveTo>
                    <a:lnTo>
                      <a:pt x="832074" y="0"/>
                    </a:lnTo>
                    <a:cubicBezTo>
                      <a:pt x="859376" y="0"/>
                      <a:pt x="881508" y="22132"/>
                      <a:pt x="881508" y="49434"/>
                    </a:cubicBezTo>
                    <a:lnTo>
                      <a:pt x="881508" y="220001"/>
                    </a:lnTo>
                    <a:cubicBezTo>
                      <a:pt x="881508" y="247302"/>
                      <a:pt x="859376" y="269435"/>
                      <a:pt x="832074" y="269435"/>
                    </a:cubicBezTo>
                    <a:lnTo>
                      <a:pt x="49434" y="269435"/>
                    </a:lnTo>
                    <a:cubicBezTo>
                      <a:pt x="22132" y="269435"/>
                      <a:pt x="0" y="247302"/>
                      <a:pt x="0" y="220001"/>
                    </a:cubicBezTo>
                    <a:lnTo>
                      <a:pt x="0" y="49434"/>
                    </a:lnTo>
                    <a:cubicBezTo>
                      <a:pt x="0" y="22132"/>
                      <a:pt x="22132" y="0"/>
                      <a:pt x="4943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C6DB63">
                      <a:alpha val="100000"/>
                    </a:srgbClr>
                  </a:gs>
                  <a:gs pos="50000">
                    <a:srgbClr val="B7D0DD">
                      <a:alpha val="100000"/>
                    </a:srgbClr>
                  </a:gs>
                  <a:gs pos="100000">
                    <a:srgbClr val="FBFFE7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881508" cy="31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601094" y="254682"/>
              <a:ext cx="9238496" cy="573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</a:t>
              </a:r>
              <a:r>
                <a:rPr lang="en-US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EEE Access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926476"/>
              <a:ext cx="10440683" cy="1109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Evolution of Deep Learning Models for Misinformation Detection in Social Media Textual Data. Elgammal, Z. &amp; Alhajj, R.</a:t>
              </a:r>
            </a:p>
            <a:p>
              <a:pPr algn="l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28788" y="3768967"/>
            <a:ext cx="7830512" cy="1501846"/>
            <a:chOff x="0" y="0"/>
            <a:chExt cx="10440683" cy="2002461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10440683" cy="2002461"/>
              <a:chOff x="0" y="0"/>
              <a:chExt cx="881508" cy="169068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81508" cy="169068"/>
              </a:xfrm>
              <a:custGeom>
                <a:avLst/>
                <a:gdLst/>
                <a:ahLst/>
                <a:cxnLst/>
                <a:rect r="r" b="b" t="t" l="l"/>
                <a:pathLst>
                  <a:path h="169068" w="881508">
                    <a:moveTo>
                      <a:pt x="49434" y="0"/>
                    </a:moveTo>
                    <a:lnTo>
                      <a:pt x="832074" y="0"/>
                    </a:lnTo>
                    <a:cubicBezTo>
                      <a:pt x="859376" y="0"/>
                      <a:pt x="881508" y="22132"/>
                      <a:pt x="881508" y="49434"/>
                    </a:cubicBezTo>
                    <a:lnTo>
                      <a:pt x="881508" y="119634"/>
                    </a:lnTo>
                    <a:cubicBezTo>
                      <a:pt x="881508" y="146936"/>
                      <a:pt x="859376" y="169068"/>
                      <a:pt x="832074" y="169068"/>
                    </a:cubicBezTo>
                    <a:lnTo>
                      <a:pt x="49434" y="169068"/>
                    </a:lnTo>
                    <a:cubicBezTo>
                      <a:pt x="22132" y="169068"/>
                      <a:pt x="0" y="146936"/>
                      <a:pt x="0" y="119634"/>
                    </a:cubicBezTo>
                    <a:lnTo>
                      <a:pt x="0" y="49434"/>
                    </a:lnTo>
                    <a:cubicBezTo>
                      <a:pt x="0" y="22132"/>
                      <a:pt x="22132" y="0"/>
                      <a:pt x="4943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C6DB63">
                      <a:alpha val="100000"/>
                    </a:srgbClr>
                  </a:gs>
                  <a:gs pos="50000">
                    <a:srgbClr val="B7D0DD">
                      <a:alpha val="100000"/>
                    </a:srgbClr>
                  </a:gs>
                  <a:gs pos="100000">
                    <a:srgbClr val="FBFFE7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881508" cy="2166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601094" y="254682"/>
              <a:ext cx="9238496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Email 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601094" y="888412"/>
              <a:ext cx="9238496" cy="707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u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hello@reallygreatsite.com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DAHVwX-LDVQ</dc:identifier>
  <dcterms:modified xsi:type="dcterms:W3CDTF">2011-08-01T06:04:30Z</dcterms:modified>
  <cp:revision>1</cp:revision>
  <dc:title>Copy of College Final Year Project</dc:title>
</cp:coreProperties>
</file>